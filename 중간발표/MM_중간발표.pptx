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60" r:id="rId3"/>
    <p:sldId id="271" r:id="rId4"/>
    <p:sldId id="272" r:id="rId5"/>
    <p:sldId id="273" r:id="rId6"/>
    <p:sldId id="274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DDEC57-5EFD-7283-D565-1A32D1CEE9E4}" v="1" dt="2025-04-28T08:16:03.0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7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7D7F90C-7890-E104-12E5-1BD3D4AA5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DEEC070C-AC40-775D-2C6F-AD1ACD3AF1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8AE2236A-7897-433A-69A1-06480B24A1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3358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C93C9017-E379-5EAA-406F-13EB8DA7D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BA97FF94-93B0-52A5-634D-C7EB978CFC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2FCA9D93-97F3-E2DE-EDA8-D68F8D233A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9197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D2C72C7B-8A2C-73A8-27A7-0948E74BD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93FA6B19-8370-75CF-FF2E-70E91819A1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990226C6-661E-0778-AE7A-4B2FBB6087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8314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3A1A56D1-FD23-B9DE-0220-0A408C6D6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E9C3E578-A42B-E35F-5F5D-0B16C289F9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71516630-3E7F-5BC6-E92B-756DFAE4B8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7909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BAD35DE7-2C8F-87D6-69E5-18DA22D60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09FEA4A9-1385-22C7-86CE-67ED3447B6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2588D741-C241-D52E-E45F-1210009A15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3033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ko-KR" altLang="en-US" sz="2500" b="1" dirty="0">
                <a:solidFill>
                  <a:srgbClr val="19264B"/>
                </a:solidFill>
              </a:rPr>
              <a:t>하계 컨퍼런스 </a:t>
            </a:r>
            <a:r>
              <a:rPr lang="en-US" altLang="ko-KR" sz="2500" b="1" dirty="0">
                <a:solidFill>
                  <a:srgbClr val="19264B"/>
                </a:solidFill>
              </a:rPr>
              <a:t>MM 1</a:t>
            </a:r>
            <a:r>
              <a:rPr lang="ko-KR" altLang="en-US" sz="2500" b="1" dirty="0">
                <a:solidFill>
                  <a:srgbClr val="19264B"/>
                </a:solidFill>
              </a:rPr>
              <a:t>팀</a:t>
            </a:r>
            <a:endParaRPr lang="ko" altLang="en-US"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dirty="0">
                <a:solidFill>
                  <a:srgbClr val="19264B"/>
                </a:solidFill>
              </a:rPr>
              <a:t>2025.07.29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오석준 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15008C51-50DF-BA46-9830-1707A25AB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0CD606A9-1E64-AD4F-0960-03B78B92B65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1FB9F173-19C6-1048-23A0-B4AD29B1582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7B55C02F-3449-8EC8-0175-7BC28F420D0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6DAF7EE-7419-8DA1-DFCE-A801466393CC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</a:rPr>
              <a:t>예정 스케줄</a:t>
            </a:r>
            <a:endParaRPr lang="ko" altLang="en-US"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B44E77BE-2DFB-5165-028B-E1DA47FA73F7}"/>
              </a:ext>
            </a:extLst>
          </p:cNvPr>
          <p:cNvCxnSpPr/>
          <p:nvPr/>
        </p:nvCxnSpPr>
        <p:spPr>
          <a:xfrm>
            <a:off x="1422562" y="4231963"/>
            <a:ext cx="6887749" cy="5325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079B898B-C1DC-B1D0-3F9A-AE365C52D773}"/>
              </a:ext>
            </a:extLst>
          </p:cNvPr>
          <p:cNvSpPr/>
          <p:nvPr/>
        </p:nvSpPr>
        <p:spPr>
          <a:xfrm>
            <a:off x="1437044" y="3669710"/>
            <a:ext cx="3416383" cy="441028"/>
          </a:xfrm>
          <a:prstGeom prst="rightArrow">
            <a:avLst/>
          </a:prstGeom>
          <a:solidFill>
            <a:srgbClr val="ED7D31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34208DB1-1373-791D-9283-02278B89848D}"/>
              </a:ext>
            </a:extLst>
          </p:cNvPr>
          <p:cNvSpPr/>
          <p:nvPr/>
        </p:nvSpPr>
        <p:spPr>
          <a:xfrm>
            <a:off x="4873872" y="3669709"/>
            <a:ext cx="1005122" cy="44102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D7DB2D3C-E8B5-4C58-BEA8-86F7121A37D9}"/>
              </a:ext>
            </a:extLst>
          </p:cNvPr>
          <p:cNvSpPr/>
          <p:nvPr/>
        </p:nvSpPr>
        <p:spPr>
          <a:xfrm>
            <a:off x="5875954" y="3669708"/>
            <a:ext cx="2445614" cy="44102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E991F0-7852-F783-DA4D-D354C4A0A94C}"/>
              </a:ext>
            </a:extLst>
          </p:cNvPr>
          <p:cNvSpPr txBox="1"/>
          <p:nvPr/>
        </p:nvSpPr>
        <p:spPr>
          <a:xfrm>
            <a:off x="2315923" y="3733504"/>
            <a:ext cx="242192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멀티 </a:t>
            </a:r>
            <a:r>
              <a:rPr lang="ko-KR" altLang="en-US" dirty="0" err="1"/>
              <a:t>모달</a:t>
            </a:r>
            <a:r>
              <a:rPr lang="ko-KR" altLang="en-US" dirty="0"/>
              <a:t> 학습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EC722B-A4BC-C015-DF0A-3539B4AE8FEA}"/>
              </a:ext>
            </a:extLst>
          </p:cNvPr>
          <p:cNvSpPr txBox="1"/>
          <p:nvPr/>
        </p:nvSpPr>
        <p:spPr>
          <a:xfrm>
            <a:off x="4945403" y="3733459"/>
            <a:ext cx="242192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DACON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C734C3-06A7-35FE-ABA3-FBF8169F402A}"/>
              </a:ext>
            </a:extLst>
          </p:cNvPr>
          <p:cNvSpPr txBox="1"/>
          <p:nvPr/>
        </p:nvSpPr>
        <p:spPr>
          <a:xfrm>
            <a:off x="6151034" y="3733459"/>
            <a:ext cx="242192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숏 페이퍼 주제 결정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A73A6F-A71D-EFD0-5ABC-A952B0B83F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3573" y="845454"/>
            <a:ext cx="4402381" cy="268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524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9D776068-EEA8-964A-CD8C-AAECEF80A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B150732C-D4DA-2C66-4B6F-6DDDC4EC5117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FF77B1D8-7DBF-12FB-D19B-D0B63544DE74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2C0DD058-44AF-381A-F496-BD8987C9982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FB609FB5-E7ED-3E68-CD24-B6C58F5BE9D8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</a:rPr>
              <a:t>What is Multimodal? </a:t>
            </a:r>
            <a:r>
              <a:rPr lang="ko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9638AC-DD01-E54E-8D80-ED8820DF6E73}"/>
              </a:ext>
            </a:extLst>
          </p:cNvPr>
          <p:cNvSpPr txBox="1"/>
          <p:nvPr/>
        </p:nvSpPr>
        <p:spPr>
          <a:xfrm>
            <a:off x="1408975" y="842830"/>
            <a:ext cx="2969745" cy="11695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b="1" dirty="0"/>
              <a:t>여러가지 종류의 데이터  </a:t>
            </a:r>
          </a:p>
          <a:p>
            <a:pPr marL="285750" indent="-285750">
              <a:buChar char="•"/>
            </a:pPr>
            <a:r>
              <a:rPr lang="ko-KR" altLang="en-US" dirty="0"/>
              <a:t>시각 데이터 </a:t>
            </a:r>
          </a:p>
          <a:p>
            <a:pPr marL="285750" indent="-285750">
              <a:buChar char="•"/>
            </a:pPr>
            <a:r>
              <a:rPr lang="ko-KR" altLang="en-US" dirty="0"/>
              <a:t>텍스트 </a:t>
            </a:r>
            <a:endParaRPr lang="en-US" altLang="ko-KR" dirty="0"/>
          </a:p>
          <a:p>
            <a:pPr marL="285750" indent="-285750">
              <a:buChar char="•"/>
            </a:pPr>
            <a:r>
              <a:rPr lang="ko-KR" altLang="en-US" dirty="0"/>
              <a:t>소리 </a:t>
            </a:r>
          </a:p>
          <a:p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BD1DBB-9E23-5E6D-7855-458CAFE8491F}"/>
              </a:ext>
            </a:extLst>
          </p:cNvPr>
          <p:cNvSpPr txBox="1"/>
          <p:nvPr/>
        </p:nvSpPr>
        <p:spPr>
          <a:xfrm>
            <a:off x="1419573" y="1879252"/>
            <a:ext cx="2969745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b="1" dirty="0"/>
              <a:t>모드의 전제 조건   </a:t>
            </a:r>
          </a:p>
          <a:p>
            <a:pPr marL="285750" indent="-285750">
              <a:buChar char="•"/>
            </a:pPr>
            <a:r>
              <a:rPr lang="ko-KR" altLang="en-US" dirty="0"/>
              <a:t>이질성 </a:t>
            </a:r>
            <a:endParaRPr lang="en-US" altLang="ko-KR" dirty="0"/>
          </a:p>
          <a:p>
            <a:r>
              <a:rPr lang="ko-KR" altLang="en-US" dirty="0"/>
              <a:t>서로 다른 특징을 지니고 있음 </a:t>
            </a:r>
          </a:p>
          <a:p>
            <a:pPr marL="285750" indent="-285750">
              <a:buChar char="•"/>
            </a:pPr>
            <a:r>
              <a:rPr lang="ko-KR" altLang="en-US" dirty="0"/>
              <a:t>상호 연결성 </a:t>
            </a:r>
            <a:endParaRPr lang="en-US" altLang="ko-KR" dirty="0"/>
          </a:p>
          <a:p>
            <a:r>
              <a:rPr lang="ko-KR" altLang="en-US" dirty="0"/>
              <a:t>서로 다른 모드들이 의미 있게 연결 </a:t>
            </a:r>
          </a:p>
          <a:p>
            <a:endParaRPr lang="en-US" altLang="ko-K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E53080-4026-DCE4-4978-BD9D8B862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330" y="203131"/>
            <a:ext cx="4453840" cy="28924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82327E-FE37-B43B-D41D-A5CBAA8D41D2}"/>
              </a:ext>
            </a:extLst>
          </p:cNvPr>
          <p:cNvSpPr txBox="1"/>
          <p:nvPr/>
        </p:nvSpPr>
        <p:spPr>
          <a:xfrm>
            <a:off x="1408975" y="3264247"/>
            <a:ext cx="3677375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b="1" dirty="0"/>
              <a:t>멀티 </a:t>
            </a:r>
            <a:r>
              <a:rPr lang="ko-KR" altLang="en-US" b="1" dirty="0" err="1"/>
              <a:t>모달의</a:t>
            </a:r>
            <a:r>
              <a:rPr lang="ko-KR" altLang="en-US" b="1" dirty="0"/>
              <a:t> 과제 </a:t>
            </a:r>
          </a:p>
          <a:p>
            <a:pPr marL="285750" indent="-285750">
              <a:buChar char="•"/>
            </a:pPr>
            <a:r>
              <a:rPr lang="ko-KR" altLang="en-US" dirty="0"/>
              <a:t>표현  </a:t>
            </a:r>
            <a:endParaRPr lang="en-US" altLang="ko-KR" dirty="0"/>
          </a:p>
          <a:p>
            <a:r>
              <a:rPr lang="ko-KR" altLang="en-US" dirty="0"/>
              <a:t>다양한 모드에서 정보 </a:t>
            </a:r>
            <a:r>
              <a:rPr lang="ko-KR" altLang="en-US" dirty="0" err="1"/>
              <a:t>추출후</a:t>
            </a:r>
            <a:r>
              <a:rPr lang="ko-KR" altLang="en-US" dirty="0"/>
              <a:t> 컴퓨터 이해 </a:t>
            </a:r>
          </a:p>
          <a:p>
            <a:pPr marL="285750" indent="-285750">
              <a:buFont typeface="Arial"/>
              <a:buChar char="•"/>
            </a:pPr>
            <a:r>
              <a:rPr lang="ko-KR" altLang="en-US" dirty="0"/>
              <a:t>정렬</a:t>
            </a:r>
            <a:endParaRPr lang="en-US" altLang="ko-KR" dirty="0"/>
          </a:p>
          <a:p>
            <a:r>
              <a:rPr lang="ko-KR" altLang="en-US" dirty="0"/>
              <a:t>서로 다른 모드들의 정보가  정확히 연결 </a:t>
            </a:r>
            <a:endParaRPr lang="en-US" altLang="ko-KR" dirty="0"/>
          </a:p>
          <a:p>
            <a:pPr marL="285750" indent="-285750">
              <a:buChar char="•"/>
            </a:pPr>
            <a:r>
              <a:rPr lang="ko-KR" altLang="en-US" dirty="0"/>
              <a:t>추론 </a:t>
            </a:r>
            <a:endParaRPr lang="en-US" altLang="ko-KR" dirty="0"/>
          </a:p>
          <a:p>
            <a:r>
              <a:rPr lang="ko-KR" altLang="en-US" dirty="0"/>
              <a:t>새로운 지식을 얻거나 문제를 해결 </a:t>
            </a:r>
            <a:endParaRPr lang="en-US" altLang="ko-KR" dirty="0"/>
          </a:p>
          <a:p>
            <a:endParaRPr lang="ko-KR" altLang="en-US" dirty="0"/>
          </a:p>
          <a:p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2E7292-F787-04AB-C016-4BA956FE1956}"/>
              </a:ext>
            </a:extLst>
          </p:cNvPr>
          <p:cNvSpPr txBox="1"/>
          <p:nvPr/>
        </p:nvSpPr>
        <p:spPr>
          <a:xfrm>
            <a:off x="4929962" y="3264247"/>
            <a:ext cx="3677375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b="1" dirty="0"/>
              <a:t>멀티 </a:t>
            </a:r>
            <a:r>
              <a:rPr lang="ko-KR" altLang="en-US" b="1" dirty="0" err="1"/>
              <a:t>모달의</a:t>
            </a:r>
            <a:r>
              <a:rPr lang="ko-KR" altLang="en-US" b="1" dirty="0"/>
              <a:t> 과제 </a:t>
            </a:r>
          </a:p>
          <a:p>
            <a:pPr marL="285750" indent="-285750">
              <a:buChar char="•"/>
            </a:pPr>
            <a:r>
              <a:rPr lang="ko-KR" altLang="en-US" dirty="0"/>
              <a:t>생성  </a:t>
            </a:r>
            <a:endParaRPr lang="en-US" altLang="ko-KR" dirty="0"/>
          </a:p>
          <a:p>
            <a:r>
              <a:rPr lang="ko-KR" altLang="en-US" dirty="0"/>
              <a:t>새로운 데이터를 만들어 내는 것  </a:t>
            </a:r>
            <a:endParaRPr lang="en-US" altLang="ko-KR" dirty="0"/>
          </a:p>
          <a:p>
            <a:pPr marL="285750" indent="-285750">
              <a:buFont typeface="Arial"/>
              <a:buChar char="•"/>
            </a:pPr>
            <a:r>
              <a:rPr lang="ko-KR" altLang="en-US" dirty="0"/>
              <a:t>전이</a:t>
            </a:r>
            <a:endParaRPr lang="en-US" altLang="ko-KR" dirty="0"/>
          </a:p>
          <a:p>
            <a:r>
              <a:rPr lang="ko-KR" altLang="en-US" dirty="0"/>
              <a:t>다른 모드의 학습에 활용하여 성능 향상 </a:t>
            </a:r>
            <a:endParaRPr lang="en-US" altLang="ko-KR" dirty="0"/>
          </a:p>
          <a:p>
            <a:pPr marL="285750" indent="-285750">
              <a:buChar char="•"/>
            </a:pPr>
            <a:r>
              <a:rPr lang="ko-KR" altLang="en-US" dirty="0"/>
              <a:t>정량화</a:t>
            </a:r>
            <a:endParaRPr lang="en-US" altLang="ko-KR" dirty="0"/>
          </a:p>
          <a:p>
            <a:r>
              <a:rPr lang="ko-KR" altLang="en-US" dirty="0"/>
              <a:t> 성능과 상호작용 방식을 측정하고 이해 </a:t>
            </a:r>
            <a:endParaRPr lang="en-US" altLang="ko-KR" dirty="0"/>
          </a:p>
          <a:p>
            <a:endParaRPr lang="ko-KR" altLang="en-US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79526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59ED53B9-7295-8D76-FA0E-8612EBCBE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5717E6FA-5036-0D50-6904-066334CC101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F744FBF8-013D-58DE-3A95-E419B192C13E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F64E33CD-27CF-7094-9042-A9E6C889DED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054CBEAD-9FE9-4D72-FF51-41FB9760FEFB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</a:rPr>
              <a:t>How do we control Unimodal problems?</a:t>
            </a:r>
            <a:endParaRPr lang="ko" altLang="en-US"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76A8D-74AF-270B-C4B0-A5749CFC1EBB}"/>
              </a:ext>
            </a:extLst>
          </p:cNvPr>
          <p:cNvSpPr txBox="1"/>
          <p:nvPr/>
        </p:nvSpPr>
        <p:spPr>
          <a:xfrm>
            <a:off x="1408975" y="800988"/>
            <a:ext cx="3677375" cy="16004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b="1" dirty="0"/>
              <a:t>시각 데이터의 구성   </a:t>
            </a:r>
          </a:p>
          <a:p>
            <a:pPr marL="285750" indent="-285750">
              <a:buChar char="•"/>
            </a:pPr>
            <a:r>
              <a:rPr lang="ko-KR" altLang="en-US" dirty="0"/>
              <a:t>이미지 </a:t>
            </a:r>
            <a:r>
              <a:rPr lang="en-US" altLang="ko-KR" dirty="0"/>
              <a:t>= </a:t>
            </a:r>
            <a:r>
              <a:rPr lang="ko-KR" altLang="en-US" dirty="0" err="1"/>
              <a:t>픽셀값의</a:t>
            </a:r>
            <a:r>
              <a:rPr lang="ko-KR" altLang="en-US" dirty="0"/>
              <a:t> 목록 </a:t>
            </a:r>
            <a:endParaRPr lang="en-US" altLang="ko-KR" dirty="0"/>
          </a:p>
          <a:p>
            <a:pPr marL="285750" indent="-285750">
              <a:buChar char="•"/>
            </a:pPr>
            <a:r>
              <a:rPr lang="ko-KR" altLang="en-US" dirty="0"/>
              <a:t>흑백 이미지</a:t>
            </a:r>
            <a:r>
              <a:rPr lang="en-US" altLang="ko-KR" dirty="0"/>
              <a:t>: 0(B) ~ 255(W) </a:t>
            </a:r>
          </a:p>
          <a:p>
            <a:pPr marL="285750" indent="-285750">
              <a:buChar char="•"/>
            </a:pPr>
            <a:r>
              <a:rPr lang="ko-KR" altLang="en-US" dirty="0"/>
              <a:t>색깔 이미지</a:t>
            </a:r>
            <a:r>
              <a:rPr lang="en-US" altLang="ko-KR" dirty="0"/>
              <a:t>: R/G/B</a:t>
            </a:r>
            <a:r>
              <a:rPr lang="ko-KR" altLang="en-US" dirty="0"/>
              <a:t> </a:t>
            </a:r>
            <a:endParaRPr lang="en-US" altLang="ko-KR" dirty="0"/>
          </a:p>
          <a:p>
            <a:pPr marL="285750" indent="-285750">
              <a:buChar char="•"/>
            </a:pPr>
            <a:r>
              <a:rPr lang="en-US" altLang="ko-KR" dirty="0"/>
              <a:t>Flatten </a:t>
            </a:r>
            <a:r>
              <a:rPr lang="ko-KR" altLang="en-US" dirty="0"/>
              <a:t>하면 공간정보를 잃어버린다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</a:p>
          <a:p>
            <a:endParaRPr lang="ko-KR" altLang="en-US" dirty="0"/>
          </a:p>
          <a:p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35F9D-D54F-0B86-6B0F-46809E6E626C}"/>
              </a:ext>
            </a:extLst>
          </p:cNvPr>
          <p:cNvSpPr txBox="1"/>
          <p:nvPr/>
        </p:nvSpPr>
        <p:spPr>
          <a:xfrm>
            <a:off x="1408975" y="1879253"/>
            <a:ext cx="4058387" cy="31085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b="1" dirty="0"/>
              <a:t>CNN </a:t>
            </a:r>
            <a:r>
              <a:rPr lang="ko-KR" altLang="en-US" b="1" dirty="0"/>
              <a:t>의 핵심 </a:t>
            </a:r>
            <a:r>
              <a:rPr lang="en-US" altLang="ko-KR" b="1" dirty="0"/>
              <a:t> </a:t>
            </a:r>
            <a:r>
              <a:rPr lang="ko-KR" altLang="en-US" b="1" dirty="0"/>
              <a:t>   </a:t>
            </a:r>
          </a:p>
          <a:p>
            <a:pPr marL="285750" indent="-285750">
              <a:buChar char="•"/>
            </a:pPr>
            <a:r>
              <a:rPr lang="ko-KR" altLang="en-US" dirty="0"/>
              <a:t>뇌의 영감  </a:t>
            </a:r>
            <a:endParaRPr lang="en-US" altLang="ko-KR" dirty="0"/>
          </a:p>
          <a:p>
            <a:r>
              <a:rPr lang="ko-KR" altLang="en-US" dirty="0"/>
              <a:t>낮은 수준인식에서 높은 수준 인식으로의 확장 </a:t>
            </a:r>
          </a:p>
          <a:p>
            <a:pPr marL="285750" indent="-285750">
              <a:buFont typeface="Arial"/>
              <a:buChar char="•"/>
            </a:pPr>
            <a:r>
              <a:rPr lang="ko-KR" altLang="en-US" dirty="0"/>
              <a:t>변환 불변성 </a:t>
            </a:r>
            <a:endParaRPr lang="en-US" altLang="ko-KR" dirty="0"/>
          </a:p>
          <a:p>
            <a:r>
              <a:rPr lang="ko-KR" altLang="en-US" dirty="0"/>
              <a:t>객체의 위치가 바뀌어도 여전히 같은 객체로 인식</a:t>
            </a:r>
            <a:endParaRPr lang="en-US" altLang="ko-KR" dirty="0"/>
          </a:p>
          <a:p>
            <a:pPr marL="285750" indent="-285750">
              <a:buChar char="•"/>
            </a:pPr>
            <a:r>
              <a:rPr lang="ko-KR" altLang="en-US" dirty="0"/>
              <a:t>파라미터 공유</a:t>
            </a:r>
            <a:endParaRPr lang="en-US" altLang="ko-KR" dirty="0"/>
          </a:p>
          <a:p>
            <a:r>
              <a:rPr lang="ko-KR" altLang="en-US" dirty="0"/>
              <a:t>하나의 커널을 이미지의 여러 위치에 반복적으로 학습</a:t>
            </a:r>
            <a:r>
              <a:rPr lang="en-US" altLang="ko-KR" dirty="0"/>
              <a:t> (</a:t>
            </a:r>
            <a:r>
              <a:rPr lang="ko-KR" altLang="en-US" dirty="0"/>
              <a:t>마치 한 개의 눈으로 이미지의 다른 위치를 보는 느낌</a:t>
            </a:r>
            <a:r>
              <a:rPr lang="en-US" altLang="ko-KR" dirty="0"/>
              <a:t>)</a:t>
            </a:r>
          </a:p>
          <a:p>
            <a:pPr marL="285750" indent="-285750">
              <a:buChar char="•"/>
            </a:pPr>
            <a:r>
              <a:rPr lang="ko-KR" altLang="en-US" dirty="0" err="1"/>
              <a:t>풀링</a:t>
            </a:r>
            <a:r>
              <a:rPr lang="ko-KR" altLang="en-US" dirty="0"/>
              <a:t> 계층</a:t>
            </a:r>
            <a:endParaRPr lang="en-US" altLang="ko-KR" dirty="0"/>
          </a:p>
          <a:p>
            <a:r>
              <a:rPr lang="ko-KR" altLang="en-US" dirty="0" err="1"/>
              <a:t>이미지응</a:t>
            </a:r>
            <a:r>
              <a:rPr lang="ko-KR" altLang="en-US" dirty="0"/>
              <a:t> 줄이고 중요한 특징만 남기는 역할  </a:t>
            </a:r>
            <a:endParaRPr lang="en-US" altLang="ko-KR" dirty="0"/>
          </a:p>
          <a:p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 </a:t>
            </a:r>
          </a:p>
          <a:p>
            <a:endParaRPr lang="en-US" altLang="ko-KR" dirty="0"/>
          </a:p>
        </p:txBody>
      </p:sp>
      <p:pic>
        <p:nvPicPr>
          <p:cNvPr id="1026" name="Picture 2" descr="CNN for MNIST Handwritten dataset | by Yashwant Kundathil | Medium">
            <a:extLst>
              <a:ext uri="{FF2B5EF4-FFF2-40B4-BE49-F238E27FC236}">
                <a16:creationId xmlns:a16="http://schemas.microsoft.com/office/drawing/2014/main" id="{96DABC10-C730-ACBA-6474-FDB90DDF2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946" y="845454"/>
            <a:ext cx="3526884" cy="1887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517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7026E8F1-AA15-750B-69FB-5E403C326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89DA1B3C-27EC-252F-6BF4-518EEC9D6B91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972C3E25-FAB2-6F2D-D42B-BC00CEEE4201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5E49548D-2615-676A-4208-0C507934DCA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B6512890-B597-F16C-FA96-D936431F2DA7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</a:rPr>
              <a:t>How do we control Unimodal problems?</a:t>
            </a:r>
            <a:endParaRPr lang="ko" altLang="en-US"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6A9341-52E2-700A-A0F3-48FCE833A008}"/>
              </a:ext>
            </a:extLst>
          </p:cNvPr>
          <p:cNvSpPr txBox="1"/>
          <p:nvPr/>
        </p:nvSpPr>
        <p:spPr>
          <a:xfrm>
            <a:off x="1408975" y="800988"/>
            <a:ext cx="3677375" cy="11695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b="1" dirty="0"/>
              <a:t>텍스트  데이터의 분포 가설    </a:t>
            </a:r>
          </a:p>
          <a:p>
            <a:pPr marL="285750" indent="-285750">
              <a:buChar char="•"/>
            </a:pPr>
            <a:r>
              <a:rPr lang="ko-KR" altLang="en-US" dirty="0"/>
              <a:t>단어의 의미는 주변 단어에 의해 결정 된다는 아이디어 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</a:p>
          <a:p>
            <a:endParaRPr lang="ko-KR" altLang="en-US" dirty="0"/>
          </a:p>
          <a:p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81174A-39E8-807C-49CF-0E58D44D91C9}"/>
              </a:ext>
            </a:extLst>
          </p:cNvPr>
          <p:cNvSpPr txBox="1"/>
          <p:nvPr/>
        </p:nvSpPr>
        <p:spPr>
          <a:xfrm>
            <a:off x="1408975" y="1611029"/>
            <a:ext cx="4058387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b="1" dirty="0"/>
              <a:t>Word2Vec (transformation of word into vector) </a:t>
            </a:r>
            <a:r>
              <a:rPr lang="ko-KR" altLang="en-US" b="1" dirty="0"/>
              <a:t>   </a:t>
            </a:r>
          </a:p>
          <a:p>
            <a:pPr marL="285750" indent="-285750">
              <a:buChar char="•"/>
            </a:pPr>
            <a:r>
              <a:rPr lang="en-US" altLang="ko-KR" dirty="0"/>
              <a:t>One-hot Encoding</a:t>
            </a:r>
            <a:r>
              <a:rPr lang="ko-KR" altLang="en-US" dirty="0"/>
              <a:t>  </a:t>
            </a:r>
            <a:endParaRPr lang="en-US" altLang="ko-KR" dirty="0"/>
          </a:p>
          <a:p>
            <a:r>
              <a:rPr lang="ko-KR" altLang="en-US" dirty="0"/>
              <a:t>단어의 등장 횟수</a:t>
            </a:r>
            <a:r>
              <a:rPr lang="en-US" altLang="ko-KR" dirty="0"/>
              <a:t>… </a:t>
            </a:r>
            <a:r>
              <a:rPr lang="ko-KR" altLang="en-US" dirty="0"/>
              <a:t>단어 간의 유사성 파악하기 힘듦 </a:t>
            </a:r>
          </a:p>
          <a:p>
            <a:pPr marL="285750" indent="-285750">
              <a:buFont typeface="Arial"/>
              <a:buChar char="•"/>
            </a:pPr>
            <a:r>
              <a:rPr lang="ko-KR" altLang="en-US" dirty="0"/>
              <a:t>주변 단어 맥락을 예측  </a:t>
            </a:r>
            <a:endParaRPr lang="en-US" altLang="ko-KR" dirty="0"/>
          </a:p>
          <a:p>
            <a:r>
              <a:rPr lang="ko-KR" altLang="en-US" dirty="0"/>
              <a:t>벡터 사이는 내적을 통해 유사도 측정 가능 이를 통해 단어 또한 유사도를 측정할 수 있지 않을까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</a:p>
          <a:p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588E89-889E-3BB8-F7AD-65AF3FBE08BE}"/>
              </a:ext>
            </a:extLst>
          </p:cNvPr>
          <p:cNvSpPr txBox="1"/>
          <p:nvPr/>
        </p:nvSpPr>
        <p:spPr>
          <a:xfrm>
            <a:off x="5466625" y="744234"/>
            <a:ext cx="3677375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b="1" dirty="0"/>
              <a:t>음성 데이터  </a:t>
            </a:r>
          </a:p>
          <a:p>
            <a:pPr marL="285750" indent="-285750">
              <a:buChar char="•"/>
            </a:pPr>
            <a:r>
              <a:rPr lang="ko-KR" altLang="en-US" dirty="0"/>
              <a:t>시계열 구조 데이터의 학습을 통해</a:t>
            </a:r>
            <a:endParaRPr lang="en-US" altLang="ko-KR" dirty="0"/>
          </a:p>
          <a:p>
            <a:r>
              <a:rPr lang="ko-KR" altLang="en-US" dirty="0"/>
              <a:t>이전의 정보를 다음 단어 예측에 활용 </a:t>
            </a:r>
            <a:endParaRPr lang="en-US" altLang="ko-KR" dirty="0"/>
          </a:p>
          <a:p>
            <a:pPr marL="285750" indent="-285750">
              <a:buChar char="•"/>
            </a:pPr>
            <a:r>
              <a:rPr lang="ko-KR" altLang="en-US" dirty="0"/>
              <a:t>양방향 </a:t>
            </a:r>
            <a:r>
              <a:rPr lang="en-US" altLang="ko-KR" dirty="0"/>
              <a:t>RNN</a:t>
            </a:r>
          </a:p>
          <a:p>
            <a:r>
              <a:rPr lang="ko-KR" altLang="en-US" dirty="0"/>
              <a:t>문장의 앞뒤 맥락을 모두 고려해서 단어의 의미 파악 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82793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B1E3EE7-ED38-0DD2-92D0-C24146BEA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41D13243-10A5-BF47-0D1B-D6A918193381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B227ADB5-ECF3-AB05-B9D5-41224D0144B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B229BC7F-7B0D-B40F-7087-A797CF38580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92E88BA-E1B0-4F03-052D-CD7640C310E0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</a:rPr>
              <a:t>Expanding our problem into Multi Modal</a:t>
            </a:r>
            <a:endParaRPr lang="ko" altLang="en-US"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237322-EA4B-1629-EB53-4E00EC45E963}"/>
              </a:ext>
            </a:extLst>
          </p:cNvPr>
          <p:cNvSpPr txBox="1"/>
          <p:nvPr/>
        </p:nvSpPr>
        <p:spPr>
          <a:xfrm>
            <a:off x="1408975" y="800988"/>
            <a:ext cx="3677375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b="1" dirty="0"/>
              <a:t>Multimodal </a:t>
            </a:r>
            <a:r>
              <a:rPr lang="ko-KR" altLang="en-US" b="1" dirty="0"/>
              <a:t>표현의 필요성    </a:t>
            </a:r>
          </a:p>
          <a:p>
            <a:pPr marL="285750" indent="-285750">
              <a:buChar char="•"/>
            </a:pPr>
            <a:r>
              <a:rPr lang="ko-KR" altLang="en-US" dirty="0"/>
              <a:t>언어</a:t>
            </a:r>
            <a:r>
              <a:rPr lang="en-US" altLang="ko-KR" dirty="0"/>
              <a:t>/</a:t>
            </a:r>
            <a:r>
              <a:rPr lang="ko-KR" altLang="en-US" dirty="0"/>
              <a:t>이미지</a:t>
            </a:r>
            <a:r>
              <a:rPr lang="en-US" altLang="ko-KR" dirty="0"/>
              <a:t>/</a:t>
            </a:r>
            <a:r>
              <a:rPr lang="ko-KR" altLang="en-US" dirty="0"/>
              <a:t>음향</a:t>
            </a:r>
            <a:r>
              <a:rPr lang="en-US" altLang="ko-KR" dirty="0"/>
              <a:t> </a:t>
            </a:r>
            <a:r>
              <a:rPr lang="ko-KR" altLang="en-US" dirty="0"/>
              <a:t>등 여러 종류의 데이터를 함께 처리하면 더 정확하고 풍부한 이해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</a:p>
          <a:p>
            <a:endParaRPr lang="ko-KR" altLang="en-US" dirty="0"/>
          </a:p>
          <a:p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CDFE65-AC4B-7E49-336D-A889896C5982}"/>
              </a:ext>
            </a:extLst>
          </p:cNvPr>
          <p:cNvSpPr txBox="1"/>
          <p:nvPr/>
        </p:nvSpPr>
        <p:spPr>
          <a:xfrm>
            <a:off x="1408975" y="2072895"/>
            <a:ext cx="4058387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b="1" dirty="0"/>
              <a:t>핵심 과제 </a:t>
            </a:r>
            <a:r>
              <a:rPr lang="en-US" altLang="ko-KR" b="1" dirty="0"/>
              <a:t> </a:t>
            </a:r>
            <a:r>
              <a:rPr lang="ko-KR" altLang="en-US" b="1" dirty="0"/>
              <a:t>   </a:t>
            </a:r>
          </a:p>
          <a:p>
            <a:pPr marL="285750" indent="-285750">
              <a:buChar char="•"/>
            </a:pPr>
            <a:r>
              <a:rPr lang="en-US" altLang="ko-KR" dirty="0"/>
              <a:t>Fusion</a:t>
            </a:r>
            <a:r>
              <a:rPr lang="ko-KR" altLang="en-US" dirty="0"/>
              <a:t>  </a:t>
            </a:r>
            <a:endParaRPr lang="en-US" altLang="ko-KR" dirty="0"/>
          </a:p>
          <a:p>
            <a:r>
              <a:rPr lang="ko-KR" altLang="en-US" dirty="0"/>
              <a:t>여러 입력을 하나의 통합된 표현으로 합치는 것 </a:t>
            </a:r>
            <a:endParaRPr lang="en-US" altLang="ko-KR" dirty="0"/>
          </a:p>
          <a:p>
            <a:pPr marL="285750" indent="-285750">
              <a:buChar char="•"/>
            </a:pPr>
            <a:r>
              <a:rPr lang="en-US" altLang="ko-KR" dirty="0"/>
              <a:t>Coordination</a:t>
            </a:r>
          </a:p>
          <a:p>
            <a:r>
              <a:rPr lang="ko-KR" altLang="en-US" dirty="0"/>
              <a:t>정보를 교환하여 서로의 맥락을 이해하고 보완하는 것 </a:t>
            </a:r>
            <a:endParaRPr lang="en-US" altLang="ko-KR" dirty="0"/>
          </a:p>
          <a:p>
            <a:pPr marL="285750" indent="-285750">
              <a:buChar char="•"/>
            </a:pPr>
            <a:r>
              <a:rPr lang="en-US" altLang="ko-KR" dirty="0"/>
              <a:t>Fission</a:t>
            </a:r>
          </a:p>
          <a:p>
            <a:r>
              <a:rPr lang="ko-KR" altLang="en-US" dirty="0"/>
              <a:t>통합된 표현에서 다시 원래의 개별 양식으로 분리하거나 새로운 양식을 생성하는 것 </a:t>
            </a:r>
            <a:endParaRPr lang="en-US" altLang="ko-KR" dirty="0"/>
          </a:p>
          <a:p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 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301064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</Words>
  <Application>Microsoft Office PowerPoint</Application>
  <PresentationFormat>On-screen Show (16:9)</PresentationFormat>
  <Paragraphs>77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NanumGothic ExtraBold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석준 오</cp:lastModifiedBy>
  <cp:revision>3</cp:revision>
  <dcterms:modified xsi:type="dcterms:W3CDTF">2025-07-28T03:29:16Z</dcterms:modified>
</cp:coreProperties>
</file>